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c5ca492f084ff5" /><Relationship Type="http://schemas.openxmlformats.org/officeDocument/2006/relationships/extended-properties" Target="/docProps/app.xml" Id="Rdea2c790e7314628" /><Relationship Type="http://schemas.openxmlformats.org/officeDocument/2006/relationships/officeDocument" Target="/ppt/presentation.xml" Id="R5bee687b6ca648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d6d0c57caa4ea8"/>
  </p:sldMasterIdLst>
  <p:notesMasterIdLst>
    <p:notesMasterId xmlns:r="http://schemas.openxmlformats.org/officeDocument/2006/relationships" r:id="R3b03ca85f27f471f"/>
  </p:notesMasterIdLst>
  <p:sldIdLst>
    <p:sldId xmlns:r="http://schemas.openxmlformats.org/officeDocument/2006/relationships" id="256" r:id="R946bdab56a3642cf"/>
    <p:sldId xmlns:r="http://schemas.openxmlformats.org/officeDocument/2006/relationships" id="257" r:id="Reb99ba0c497e476e"/>
    <p:sldId xmlns:r="http://schemas.openxmlformats.org/officeDocument/2006/relationships" id="258" r:id="R7d40d904e70240d8"/>
    <p:sldId xmlns:r="http://schemas.openxmlformats.org/officeDocument/2006/relationships" id="259" r:id="R25cb5f39ea9142c7"/>
    <p:sldId xmlns:r="http://schemas.openxmlformats.org/officeDocument/2006/relationships" id="260" r:id="R06d60a01cec6456b"/>
    <p:sldId xmlns:r="http://schemas.openxmlformats.org/officeDocument/2006/relationships" id="261" r:id="Rc0e9f87354e148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da7fe85736462e" /><Relationship Type="http://schemas.openxmlformats.org/officeDocument/2006/relationships/slideMaster" Target="/ppt/slideMasters/slideMaster1.xml" Id="R6ed6d0c57caa4ea8" /><Relationship Type="http://schemas.openxmlformats.org/officeDocument/2006/relationships/notesMaster" Target="/ppt/notesMasters/notesMaster1.xml" Id="R3b03ca85f27f471f" /><Relationship Type="http://schemas.openxmlformats.org/officeDocument/2006/relationships/presProps" Target="/ppt/presProps.xml" Id="R5e0ec992b794424a" /><Relationship Type="http://schemas.openxmlformats.org/officeDocument/2006/relationships/viewProps" Target="/ppt/viewProps.xml" Id="R169fcac89bc64000" /><Relationship Type="http://schemas.openxmlformats.org/officeDocument/2006/relationships/tableStyles" Target="/ppt/tableStyles.xml" Id="R56470558df8f49a3" /><Relationship Type="http://schemas.openxmlformats.org/officeDocument/2006/relationships/slide" Target="/ppt/slides/slide1.xml" Id="R946bdab56a3642cf" /><Relationship Type="http://schemas.openxmlformats.org/officeDocument/2006/relationships/slide" Target="/ppt/slides/slide2.xml" Id="Reb99ba0c497e476e" /><Relationship Type="http://schemas.openxmlformats.org/officeDocument/2006/relationships/slide" Target="/ppt/slides/slide3.xml" Id="R7d40d904e70240d8" /><Relationship Type="http://schemas.openxmlformats.org/officeDocument/2006/relationships/slide" Target="/ppt/slides/slide4.xml" Id="R25cb5f39ea9142c7" /><Relationship Type="http://schemas.openxmlformats.org/officeDocument/2006/relationships/slide" Target="/ppt/slides/slide5.xml" Id="R06d60a01cec6456b" /><Relationship Type="http://schemas.openxmlformats.org/officeDocument/2006/relationships/slide" Target="/ppt/slides/slide6.xml" Id="Rc0e9f87354e148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e7b04f2b7549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168944cc804688" /><Relationship Type="http://schemas.openxmlformats.org/officeDocument/2006/relationships/notesMaster" Target="/ppt/notesMasters/notesMaster1.xml" Id="R9323dffd02ee48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8b3db1b8744320" /><Relationship Type="http://schemas.openxmlformats.org/officeDocument/2006/relationships/notesMaster" Target="/ppt/notesMasters/notesMaster1.xml" Id="Rafcf98fb85f44d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636f0679b64e2c" /><Relationship Type="http://schemas.openxmlformats.org/officeDocument/2006/relationships/notesMaster" Target="/ppt/notesMasters/notesMaster1.xml" Id="R57eb800306ee47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46c0d8f0b94677" /><Relationship Type="http://schemas.openxmlformats.org/officeDocument/2006/relationships/notesMaster" Target="/ppt/notesMasters/notesMaster1.xml" Id="Rf126119ff84a4a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2370c135804c9f" /><Relationship Type="http://schemas.openxmlformats.org/officeDocument/2006/relationships/notesMaster" Target="/ppt/notesMasters/notesMaster1.xml" Id="R85b77f923d86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20679c9cec4168" /><Relationship Type="http://schemas.openxmlformats.org/officeDocument/2006/relationships/notesMaster" Target="/ppt/notesMasters/notesMaster1.xml" Id="R99a6da139fdc4f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SIH26027 problem statement and user-provided team identity. Product line is design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README.md; docs/PRIORITY_ENGINE.md; docs/REOPTIMIZATION.md; optimizer/optimizer.py; optimizer/recovery.py; optimizer/recovery_validation.py. Workflow is the implemented prototype; authorized railway integration is future work.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optimizer/optimizer.py; optimizer/recovery.py; optimizer/recovery_graph.py (standard-library adjacency); optimizer/recovery_validation.py; docs/GOLDEN_RECOVERY_SUITE.md; artifacts/golden-recovery/reference-solutions; Gate 9 evidence case 2. Case 2 is SYNTHETIC_GOLDEN_RECOVERY_FIXTURE.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artifacts/golden-recovery/test-results.txt; docs/GOLDEN_RECOVERY_SUITE.md; artifacts/golden-recovery/summary.md; Gate 9 evidence case 3; docs/DATA_PROVENANCE.md; docs/ASSUMPTIONS.md. Deployment gaps are future work. 408 passed, 0 failed, 2 dependency deprecation warnings.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docs/PRIORITY_ENGINE.md; optimizer/optimizer.py; optimizer/recovery.py; optimizer/recovery_validation.py; artifacts/golden-recovery/reference-solutions; Gate 9 evidence figures case 1, 2, 3; artifacts/golden-recovery/test-results.txt. All three case outcomes are synthetic experiment evidence. No field impact metric is asserted.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External research sources are listed as context, not as evidence of RailSync field performance. Implementation: https://github.com/prakhar9642/RailSync; prototype: https://rail-sync-eosin.vercel.app.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0ff82f86e48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21fb150024f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0da78633d4d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11a4768e847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716ce8c6141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928cc6da141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2172813734ac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63980b2814d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ed6297ce94de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b7a424f7848b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90b5c48e3423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E19B16-CBA7-4ACE-ACCA-C84B099A07B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CCA3846-23C7-4892-B8AB-344379498D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C6BF99-057E-4F7B-A041-0710BB4005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D4AD12-7B3E-4ABC-BC9D-1EFF8CE9BB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7A9967-7367-4204-B913-2DF07EE0B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189C99-3375-4E3B-A810-582DCE507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70CA85-AD90-4443-8707-D8EDFF2489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31892E-9AE5-4B85-AA86-DEF1B15248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20A655-4726-4114-9031-1E40884BA4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33650A-C1BB-4937-8978-54B20B3D9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F1257D-D2AF-4D6E-93F7-6BB34B6C7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AD7EDD-6BD2-4A75-A6C9-EB622FE33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0D9D5C-119F-4661-B04C-20CF4EA3B7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7253D7-D92F-4B69-A5F5-A13173D88D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B22ECE-F4A8-4DE2-8780-49C9CAA3F2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AE04CF-993A-4290-B0C1-5387EF936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4B1F36-6429-45AF-94EB-3927C689E5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C1A8AA7-901E-4D7E-B28B-A55AA88C4BC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26131D-CE12-4378-A97F-42D2B70CB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0CD2A4-0BFF-4B85-9CD6-01D498A5E5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4A0B16-F591-459D-AD59-C9003E26E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6521F0-96BD-4397-9206-A68389D31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37809E-8FED-4979-9487-687566B782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A852DE9-F1ED-48BD-B18A-3600E6C2C9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A743712-F815-4F4C-B9B8-508AC555583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3B85C5-DAD3-4EBE-8654-F4F6B21DBA5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BA4ADE-DF0B-4BF7-A92F-050C27EAC4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311C56-646D-4BBC-87F9-7C6777BCDF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33EA21-2135-4AF8-91E2-0AD694C78D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DE2A65-43B9-4DB9-8239-3CBB5FD9D4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8A6D2E-FF04-4BAF-906F-31599907B8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7DE762-5D13-4DC2-A106-3B2E7720F1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EF93C5-4070-4E62-BFC6-A69B3A63E3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589E76-10B4-4790-9F06-6E9996EF1F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5B2E1-E509-4676-BC7D-462CDF4EE7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92DF3-4931-47C4-BA7E-498AC7D682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3F1D8B-0CF4-421C-BA15-49B586AF74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8636FF-5832-4687-93F2-DBE7D380A2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C7DDF4B-19D0-4DAE-BCA6-E488CDFFFF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71F2DF-9212-41C2-AD97-0A384077F7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AA0440-42C6-4FB9-8348-A899A6D512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6F6DFF-C93D-4923-985A-A5F280A288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E3A7A3-3245-4941-8FD5-24DD9A5EF4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1FFA63E-CB37-45B0-9F8B-F39D673E399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AEA99A1-DDE6-46FD-964F-F428D2D618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CBFDA6-8666-4B43-9C56-8FC8CCFFBC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CECD3A-F350-410B-9967-0BC59892B0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88736E-AEF9-4700-B990-5CEC78DDEC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49E3B1-5DF8-402B-8A06-E72025FE1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B4A27C-64BD-4900-8146-2A147D6499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99A8CA-9B65-4EA9-A0CD-8F9AF2946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500A26-4448-4D7E-8C75-40A2DD8FBF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36531C-70E5-4C5A-B9EF-0DE938AE7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F99E9E4-5CA1-4CE2-A615-BA8E14E02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A403A4-D20B-481F-B868-ACD28F5703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821A3A-A984-419E-A574-70D04118D0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D3947E-F557-418F-9A43-D9C128F70E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39BB10-6594-449A-A529-5A0B2E4B06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251b1c2dee48dd" /><Relationship Type="http://schemas.openxmlformats.org/officeDocument/2006/relationships/slideLayout" Target="/ppt/slideLayouts/slideLayout1.xml" Id="R02c56efde68d46a2" /><Relationship Type="http://schemas.openxmlformats.org/officeDocument/2006/relationships/slideLayout" Target="/ppt/slideLayouts/slideLayout2.xml" Id="R412051161dad41e1" /><Relationship Type="http://schemas.openxmlformats.org/officeDocument/2006/relationships/slideLayout" Target="/ppt/slideLayouts/slideLayout3.xml" Id="Rde85273f2d6e41f7" /><Relationship Type="http://schemas.openxmlformats.org/officeDocument/2006/relationships/slideLayout" Target="/ppt/slideLayouts/slideLayout4.xml" Id="R0f0d6dbf46b24450" /><Relationship Type="http://schemas.openxmlformats.org/officeDocument/2006/relationships/slideLayout" Target="/ppt/slideLayouts/slideLayout5.xml" Id="Rcc06cfd5423e42aa" /><Relationship Type="http://schemas.openxmlformats.org/officeDocument/2006/relationships/slideLayout" Target="/ppt/slideLayouts/slideLayout6.xml" Id="Rc568c491205f4de6" /><Relationship Type="http://schemas.openxmlformats.org/officeDocument/2006/relationships/slideLayout" Target="/ppt/slideLayouts/slideLayout7.xml" Id="R18e3e7a1d82d43f5" /><Relationship Type="http://schemas.openxmlformats.org/officeDocument/2006/relationships/slideLayout" Target="/ppt/slideLayouts/slideLayout8.xml" Id="R8ab93747a0ec44eb" /><Relationship Type="http://schemas.openxmlformats.org/officeDocument/2006/relationships/slideLayout" Target="/ppt/slideLayouts/slideLayout9.xml" Id="R24941e404f4b4355" /><Relationship Type="http://schemas.openxmlformats.org/officeDocument/2006/relationships/slideLayout" Target="/ppt/slideLayouts/slideLayout10.xml" Id="R3f9f300f98b54fc8" /><Relationship Type="http://schemas.openxmlformats.org/officeDocument/2006/relationships/slideLayout" Target="/ppt/slideLayouts/slideLayout11.xml" Id="R8c21fbe111244ee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CC18529-4F31-4CD1-B561-7E06B3DF7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C74339-E3EF-4304-88A2-E22240379F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904CC5-5930-43A8-9F9C-64F712EAF39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50E8F6-BBB3-4E0D-828D-4B007676DDC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3F7A98-1B93-4A5D-9871-252A6455F40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c56efde68d46a2"/>
    <p:sldLayoutId xmlns:r="http://schemas.openxmlformats.org/officeDocument/2006/relationships" id="2147483650" r:id="R412051161dad41e1"/>
    <p:sldLayoutId xmlns:r="http://schemas.openxmlformats.org/officeDocument/2006/relationships" id="2147483651" r:id="Rde85273f2d6e41f7"/>
    <p:sldLayoutId xmlns:r="http://schemas.openxmlformats.org/officeDocument/2006/relationships" id="2147483652" r:id="R0f0d6dbf46b24450"/>
    <p:sldLayoutId xmlns:r="http://schemas.openxmlformats.org/officeDocument/2006/relationships" id="2147483653" r:id="Rcc06cfd5423e42aa"/>
    <p:sldLayoutId xmlns:r="http://schemas.openxmlformats.org/officeDocument/2006/relationships" id="2147483654" r:id="Rc568c491205f4de6"/>
    <p:sldLayoutId xmlns:r="http://schemas.openxmlformats.org/officeDocument/2006/relationships" id="2147483655" r:id="R18e3e7a1d82d43f5"/>
    <p:sldLayoutId xmlns:r="http://schemas.openxmlformats.org/officeDocument/2006/relationships" id="2147483656" r:id="R8ab93747a0ec44eb"/>
    <p:sldLayoutId xmlns:r="http://schemas.openxmlformats.org/officeDocument/2006/relationships" id="2147483657" r:id="R24941e404f4b4355"/>
    <p:sldLayoutId xmlns:r="http://schemas.openxmlformats.org/officeDocument/2006/relationships" id="2147483658" r:id="R3f9f300f98b54fc8"/>
    <p:sldLayoutId xmlns:r="http://schemas.openxmlformats.org/officeDocument/2006/relationships" id="2147483659" r:id="R8c21fbe111244eee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13d20959c47e9" /><Relationship Type="http://schemas.openxmlformats.org/officeDocument/2006/relationships/image" Target="/ppt/media/image.png" Id="R4c9542edbda0422b" /><Relationship Type="http://schemas.openxmlformats.org/officeDocument/2006/relationships/image" Target="/ppt/media/image2.png" Id="R5edaeff63e6d4776" /><Relationship Type="http://schemas.openxmlformats.org/officeDocument/2006/relationships/notesSlide" Target="/ppt/notesSlides/notesSlide1.xml" Id="Rd2ea4c9f37f84d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8aebfd05904ea4" /><Relationship Type="http://schemas.openxmlformats.org/officeDocument/2006/relationships/image" Target="/ppt/media/image2.png" Id="R2ff27154a2e342df" /><Relationship Type="http://schemas.openxmlformats.org/officeDocument/2006/relationships/notesSlide" Target="/ppt/notesSlides/notesSlide2.xml" Id="Rdfb56af303204d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8c1bc7c6d14789" /><Relationship Type="http://schemas.openxmlformats.org/officeDocument/2006/relationships/image" Target="/ppt/media/image2.png" Id="R9d358b87defc4b27" /><Relationship Type="http://schemas.openxmlformats.org/officeDocument/2006/relationships/notesSlide" Target="/ppt/notesSlides/notesSlide3.xml" Id="Rd5282001fb0c48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2ed052854b4e90" /><Relationship Type="http://schemas.openxmlformats.org/officeDocument/2006/relationships/image" Target="/ppt/media/image2.png" Id="R3fe0e38c36924783" /><Relationship Type="http://schemas.openxmlformats.org/officeDocument/2006/relationships/notesSlide" Target="/ppt/notesSlides/notesSlide4.xml" Id="R2ff656d357564f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488d7f26164baa" /><Relationship Type="http://schemas.openxmlformats.org/officeDocument/2006/relationships/image" Target="/ppt/media/image2.png" Id="R9ed21f498fb14210" /><Relationship Type="http://schemas.openxmlformats.org/officeDocument/2006/relationships/notesSlide" Target="/ppt/notesSlides/notesSlide5.xml" Id="R227e7f9f577249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71de029cdb4ab4" /><Relationship Type="http://schemas.openxmlformats.org/officeDocument/2006/relationships/image" Target="/ppt/media/image2.png" Id="R1c2643d1886a40e3" /><Relationship Type="http://schemas.openxmlformats.org/officeDocument/2006/relationships/notesSlide" Target="/ppt/notesSlides/notesSlide6.xml" Id="R4c5eb70cb4f640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9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9542edbda0422b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FC7EC425-5750-4ED6-B129-2C5EA19735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AA77C720-69E4-4247-8B4C-62789B05564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D2809D-3BD6-4CE3-90DA-F4FAFF2A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4703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pic>
        <p:nvPicPr>
          <p:cNvPr id="5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aeff63e6d4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97FF6C-A557-424C-9957-4C20E24C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576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1954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RailSync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69C5FD-90B2-4959-93B1-841C75CF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AUTOMATIC BLOCK PLANNING</a:t>
            </a:r>
          </a:p>
          <a:p xmlns:a="http://schemas.openxmlformats.org/drawingml/2006/main">
            <a:pPr algn="l">
              <a:defRPr sz="1875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WITH CONTROLLED RECOVERY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1ECAE1-2C6F-4CAB-BF8D-C52865E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6DA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22D283-AC0A-4313-9A1F-C0A6F94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142"/>
                </a:solidFill>
                <a:latin typeface="Arial"/>
                <a:ea typeface="Arial"/>
                <a:cs typeface="Arial"/>
              </a:rPr>
              <a:t>SIH26027  ·  Transportation &amp; Logistics  ·  Software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EA5F3F-508E-48BF-BB52-9512972B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590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3142"/>
                </a:solidFill>
                <a:latin typeface="Arial"/>
                <a:ea typeface="Arial"/>
                <a:cs typeface="Arial"/>
              </a:rPr>
              <a:t>AI-Powered Automatic Block Planning to Maximize Asset Availability for Train Operations on Indian Railways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9E1C54-8091-4F6A-86D4-56C7E37A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623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TEAM NSUT082  ·  NETAJI SUBHAS UNIVERSITY OF TECHNOLOGY (NSUT)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4014AD-AFB0-495A-8F7A-AE682597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Prakhar Tyagi  ·  Somya Sharma  ·  Kunal Kumar</a:t>
            </a:r>
          </a:p>
          <a:p xmlns:a="http://schemas.openxmlformats.org/drawingml/2006/main">
            <a:pPr algn="l">
              <a:defRPr sz="11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Priyanshu Chauhan  ·  Gauransh  ·  Shreyaan Awasthi</a:t>
            </a:r>
          </a:p>
        </p:txBody>
      </p:sp>
    </p:spTree>
    <p:extLst>
      <p:ext uri="{BB962C8B-B14F-4D97-AF65-F5344CB8AC3E}">
        <p14:creationId xmlns:p14="http://schemas.microsoft.com/office/powerpoint/2010/main" val="11534632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5BBA074-2CF0-4825-8F39-65459F8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313A062F-B2DA-4424-89BC-52F622A35F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/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2805AB5F-8AB6-48F5-8958-56EADC0A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/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1521E3-E110-4CF4-AB24-C1A1B04602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E8D5604-DF26-4549-AF81-8C3C29A636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RailSync</a:t>
            </a:r>
            <a:endParaRPr/>
          </a:p>
        </p:txBody>
      </p:sp>
      <p:pic>
        <p:nvPicPr>
          <p:cNvPr id="1540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27154a2e342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560CED29-9CF8-4428-8AF8-E48C0E06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One workflow from maintenance demand to a reviewable block plan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B562751D-7431-45E1-B279-7414E48C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552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E281EE8E-C503-4881-A8D8-37EFA378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0C82C4BA-EEE2-4164-B612-9A1AB8FB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requests + priority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06080ACB-A935-4F27-ABA7-52EEB94E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38350"/>
            <a:ext cx="2552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C1F21EF2-7321-4B03-8957-1F6457E0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859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TRAIN WINDOWS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927D54E8-BA4F-4380-AB1B-095B7639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occupancy + protection</a:t>
            </a:r>
          </a:p>
        </p:txBody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4CE79ADD-E317-4DB2-B465-8C9A373E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2552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4F16780A-CE5A-43F1-BCC3-C12A2E75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859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5857A959-1C60-473A-BD97-F7967E68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crew, machines, power</a:t>
            </a:r>
          </a:p>
        </p:txBody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4E40EF33-9A80-4CDD-A5B9-486EBDC6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38350"/>
            <a:ext cx="2552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CFDAAAB1-B5C7-404E-BC86-9CCE92A2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859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OPERATING RULES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ABD9D932-4ABD-4090-A7D6-4B46DD82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33625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sections, setup, deadlines</a:t>
            </a:r>
          </a:p>
        </p:txBody>
      </p:sp>
      <p:sp>
        <p:nvSpPr>
          <p:cNvPr id="15377" name="">
            <a:extLst xmlns:a="http://schemas.openxmlformats.org/drawingml/2006/main">
              <a:ext uri="{FF2B5EF4-FFF2-40B4-BE49-F238E27FC236}">
                <a16:creationId xmlns:a16="http://schemas.microsoft.com/office/drawing/2014/main" id="{12F65037-9080-4072-B76A-5311C245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14625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086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EB2494AD-4F9F-4F9A-B2AD-0C4E3E8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04787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965A5D51-7A23-4C59-A672-B41FFDB7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895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93336280-F4E5-4A71-9D42-4965D866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185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explainable scoring</a:t>
            </a:r>
          </a:p>
        </p:txBody>
      </p:sp>
      <p:sp>
        <p:nvSpPr>
          <p:cNvPr id="15381" name="">
            <a:extLst xmlns:a="http://schemas.openxmlformats.org/drawingml/2006/main">
              <a:ext uri="{FF2B5EF4-FFF2-40B4-BE49-F238E27FC236}">
                <a16:creationId xmlns:a16="http://schemas.microsoft.com/office/drawing/2014/main" id="{17D06B3A-42EC-45DD-8A4A-E420BA1B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290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CC8C9467-D6AF-4E25-AF07-9CF7881A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14675"/>
            <a:ext cx="204787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27F6FC89-FFF8-4780-8D02-30B9D3BB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1895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B9D35618-DEF1-4D93-AB04-C9FA7852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90925"/>
            <a:ext cx="185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ENG / S&amp;T / TRD</a:t>
            </a:r>
          </a:p>
        </p:txBody>
      </p:sp>
      <p:sp>
        <p:nvSpPr>
          <p:cNvPr id="15385" name="">
            <a:extLst xmlns:a="http://schemas.openxmlformats.org/drawingml/2006/main">
              <a:ext uri="{FF2B5EF4-FFF2-40B4-BE49-F238E27FC236}">
                <a16:creationId xmlns:a16="http://schemas.microsoft.com/office/drawing/2014/main" id="{A58633F4-1818-4338-8495-6F88740B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290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386" name="">
            <a:extLst xmlns:a="http://schemas.openxmlformats.org/drawingml/2006/main">
              <a:ext uri="{FF2B5EF4-FFF2-40B4-BE49-F238E27FC236}">
                <a16:creationId xmlns:a16="http://schemas.microsoft.com/office/drawing/2014/main" id="{668A970F-FCAF-4476-B6E8-2825716B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14675"/>
            <a:ext cx="204787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87" name="">
            <a:extLst xmlns:a="http://schemas.openxmlformats.org/drawingml/2006/main">
              <a:ext uri="{FF2B5EF4-FFF2-40B4-BE49-F238E27FC236}">
                <a16:creationId xmlns:a16="http://schemas.microsoft.com/office/drawing/2014/main" id="{5B30A6CF-EB13-4151-B6AF-FEDD2F70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38500"/>
            <a:ext cx="1895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5388" name="">
            <a:extLst xmlns:a="http://schemas.openxmlformats.org/drawingml/2006/main">
              <a:ext uri="{FF2B5EF4-FFF2-40B4-BE49-F238E27FC236}">
                <a16:creationId xmlns:a16="http://schemas.microsoft.com/office/drawing/2014/main" id="{044C1DB9-73C0-4F37-B405-9049E1DA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90925"/>
            <a:ext cx="185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feasible possessions</a:t>
            </a:r>
          </a:p>
        </p:txBody>
      </p:sp>
      <p:sp>
        <p:nvSpPr>
          <p:cNvPr id="15389" name="">
            <a:extLst xmlns:a="http://schemas.openxmlformats.org/drawingml/2006/main">
              <a:ext uri="{FF2B5EF4-FFF2-40B4-BE49-F238E27FC236}">
                <a16:creationId xmlns:a16="http://schemas.microsoft.com/office/drawing/2014/main" id="{B975BDC2-F14A-422B-AB1A-D2593AF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290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390" name="">
            <a:extLst xmlns:a="http://schemas.openxmlformats.org/drawingml/2006/main">
              <a:ext uri="{FF2B5EF4-FFF2-40B4-BE49-F238E27FC236}">
                <a16:creationId xmlns:a16="http://schemas.microsoft.com/office/drawing/2014/main" id="{FE4719F4-5B71-4A3A-97CC-E4916BA2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14675"/>
            <a:ext cx="204787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91" name="">
            <a:extLst xmlns:a="http://schemas.openxmlformats.org/drawingml/2006/main">
              <a:ext uri="{FF2B5EF4-FFF2-40B4-BE49-F238E27FC236}">
                <a16:creationId xmlns:a16="http://schemas.microsoft.com/office/drawing/2014/main" id="{D22B2933-EA54-4E10-A63E-89EAA816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38500"/>
            <a:ext cx="1895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74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774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392" name="">
            <a:extLst xmlns:a="http://schemas.openxmlformats.org/drawingml/2006/main">
              <a:ext uri="{FF2B5EF4-FFF2-40B4-BE49-F238E27FC236}">
                <a16:creationId xmlns:a16="http://schemas.microsoft.com/office/drawing/2014/main" id="{EBC353C0-496B-4214-BC88-A366E63E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90925"/>
            <a:ext cx="185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complete plan</a:t>
            </a:r>
          </a:p>
        </p:txBody>
      </p:sp>
      <p:sp>
        <p:nvSpPr>
          <p:cNvPr id="15393" name="">
            <a:extLst xmlns:a="http://schemas.openxmlformats.org/drawingml/2006/main">
              <a:ext uri="{FF2B5EF4-FFF2-40B4-BE49-F238E27FC236}">
                <a16:creationId xmlns:a16="http://schemas.microsoft.com/office/drawing/2014/main" id="{6A1ECCAC-1FC8-44A4-9283-0872086F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290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394" name="">
            <a:extLst xmlns:a="http://schemas.openxmlformats.org/drawingml/2006/main">
              <a:ext uri="{FF2B5EF4-FFF2-40B4-BE49-F238E27FC236}">
                <a16:creationId xmlns:a16="http://schemas.microsoft.com/office/drawing/2014/main" id="{E44FFD65-4A49-4B52-9618-6D0F163A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14675"/>
            <a:ext cx="204787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95" name="">
            <a:extLst xmlns:a="http://schemas.openxmlformats.org/drawingml/2006/main">
              <a:ext uri="{FF2B5EF4-FFF2-40B4-BE49-F238E27FC236}">
                <a16:creationId xmlns:a16="http://schemas.microsoft.com/office/drawing/2014/main" id="{6C872A47-F5D3-4249-AFFC-560E3A4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1895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5396" name="">
            <a:extLst xmlns:a="http://schemas.openxmlformats.org/drawingml/2006/main">
              <a:ext uri="{FF2B5EF4-FFF2-40B4-BE49-F238E27FC236}">
                <a16:creationId xmlns:a16="http://schemas.microsoft.com/office/drawing/2014/main" id="{2D40C517-7942-4AFB-83F1-60567B56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90925"/>
            <a:ext cx="185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controller decision</a:t>
            </a:r>
          </a:p>
        </p:txBody>
      </p:sp>
      <p:sp>
        <p:nvSpPr>
          <p:cNvPr id="15397" name="">
            <a:extLst xmlns:a="http://schemas.openxmlformats.org/drawingml/2006/main">
              <a:ext uri="{FF2B5EF4-FFF2-40B4-BE49-F238E27FC236}">
                <a16:creationId xmlns:a16="http://schemas.microsoft.com/office/drawing/2014/main" id="{76419B0A-46E2-47F8-A1F9-BDE7CC74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5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5398" name="">
            <a:extLst xmlns:a="http://schemas.openxmlformats.org/drawingml/2006/main">
              <a:ext uri="{FF2B5EF4-FFF2-40B4-BE49-F238E27FC236}">
                <a16:creationId xmlns:a16="http://schemas.microsoft.com/office/drawing/2014/main" id="{3E5E7568-5CCE-416C-AACB-6C90867D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6511"/>
                </a:solidFill>
                <a:latin typeface="Arial"/>
                <a:ea typeface="Arial"/>
                <a:cs typeface="Arial"/>
              </a:rPr>
              <a:t>WHEN EXECUTION DEVIATES</a:t>
            </a:r>
          </a:p>
        </p:txBody>
      </p:sp>
      <p:sp>
        <p:nvSpPr>
          <p:cNvPr id="15399" name="">
            <a:extLst xmlns:a="http://schemas.openxmlformats.org/drawingml/2006/main">
              <a:ext uri="{FF2B5EF4-FFF2-40B4-BE49-F238E27FC236}">
                <a16:creationId xmlns:a16="http://schemas.microsoft.com/office/drawing/2014/main" id="{9D48BE0E-BD47-4F41-B957-233572CB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Execution snapshot  →  resource-linked repair  →  complete-plan revalidation</a:t>
            </a:r>
          </a:p>
        </p:txBody>
      </p:sp>
      <p:sp>
        <p:nvSpPr>
          <p:cNvPr id="15400" name="">
            <a:extLst xmlns:a="http://schemas.openxmlformats.org/drawingml/2006/main">
              <a:ext uri="{FF2B5EF4-FFF2-40B4-BE49-F238E27FC236}">
                <a16:creationId xmlns:a16="http://schemas.microsoft.com/office/drawing/2014/main" id="{A5430F2A-BE96-466F-AAC4-20F6F2C5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Unaffected approved commitments stay fixed; scope expands only when dependencies require it.</a:t>
            </a:r>
          </a:p>
        </p:txBody>
      </p:sp>
    </p:spTree>
    <p:extLst>
      <p:ext uri="{BB962C8B-B14F-4D97-AF65-F5344CB8AC3E}">
        <p14:creationId xmlns:p14="http://schemas.microsoft.com/office/powerpoint/2010/main" val="15211790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BFBD7FEA-EF00-4E64-AB6D-B01DD40CF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3D40724A-8ACA-4418-8A52-48EDDBCC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5B4708-77D9-4062-9A64-D048500D9A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550AAAE-B27B-45A6-95C8-223270A397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RailSync</a:t>
            </a:r>
            <a:endParaRPr/>
          </a:p>
        </p:txBody>
      </p:sp>
      <p:pic>
        <p:nvPicPr>
          <p:cNvPr id="1747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58b87defc4b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0928F424-7CC9-4022-A2E7-14A055BD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A single constraint model; a separate complete-plan validator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58FB9678-024D-4E6C-91E1-CD7F31F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1533525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EAF1F7"/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E94BF29E-276F-4EAD-B34F-96028BCB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438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INITIAL PLANNING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BF81540E-F06C-4AC2-96F0-AB2B2E0C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65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D7DF04FA-FD4A-4BC1-AA10-9FD5F14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B80350AE-4D6F-4399-B0B4-B7B2E26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812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maintenance + trains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37530D4A-D016-44AD-80C6-E1F20FFC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812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4DDC4E25-B689-46B2-8AAD-CE2299C0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47900"/>
            <a:ext cx="165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26D77A50-5531-4414-87B8-E2A4368F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05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5E530570-FC1E-4EC3-B1B7-0F1E9CC1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812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explainable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E5A7CDE0-C1BF-429A-AF57-3015269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812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35EF585E-F933-4B4C-B702-6F36C806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165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D3345D3C-10C4-4542-9F42-F87B0D28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0BF5C094-DB13-440F-A718-2E2280AA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812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candidate slots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4E4760CB-BAFD-418A-809F-CA994E1A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99713FD8-83AC-490E-8C46-F5C6DDA4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165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389B3428-0320-4BFC-8FFE-0674E29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CP-SAT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8CDE1775-0788-4058-B80A-5D5CB3DD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812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plan search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6A0F0633-7D77-4267-951B-675594A3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EA7711AB-3240-4680-9C22-0740033F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165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1E8727D4-358E-4212-B388-546C1E81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7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74F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8015D554-DC95-440A-ACCA-84659D09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812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459D78CD-2E1D-4AEF-9593-45AE1513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CC0D3F9D-C6E3-4937-BD82-4E4C5E6B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47900"/>
            <a:ext cx="16573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B06E9EC5-9A4A-44A6-9F26-DA6061C8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D2FF61BB-606D-4E88-9433-33C8F068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5812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E581B274-B460-4F55-8F19-6765D78F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7526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FFF2DC"/>
            </a:solidFill>
            <a:prstDash val="solid"/>
          </a:ln>
        </p:spPr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BCE3C67F-ABA8-40D7-8CF9-00873F4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737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765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6511"/>
                </a:solidFill>
                <a:latin typeface="Arial"/>
                <a:ea typeface="Arial"/>
                <a:cs typeface="Arial"/>
              </a:rPr>
              <a:t>EXECUTION RECOVERY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093288E4-59A5-43FE-8CEB-4D400ED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200025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CAFB9F39-DF5B-4CCD-8E77-09BD2094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Snapshot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503FFCD7-66AA-4C6A-A0C4-D24D935F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885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completed + in progress</a:t>
            </a:r>
          </a:p>
        </p:txBody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39706C9E-A1F1-491E-BCC0-11149FD0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667125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713299B2-B1A9-4284-B336-077947C4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95675"/>
            <a:ext cx="200025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438CF319-3082-4E2C-B459-14EF3BFB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BEBD69BF-AB22-4960-8414-0417B728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9525"/>
            <a:ext cx="1885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resource adjacency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841CC4B3-7EB9-41E9-87F9-CD9E3307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67125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EBB8B8A3-25F4-4777-99D6-EE07D75C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95675"/>
            <a:ext cx="200025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58EDE6D6-3E68-47D0-9E09-09B4EC93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CP-SAT</a:t>
            </a:r>
          </a:p>
        </p:txBody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4B8AE6E4-F4C1-4F39-9E70-FB818170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9525"/>
            <a:ext cx="1885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fixed complement</a:t>
            </a:r>
          </a:p>
        </p:txBody>
      </p:sp>
      <p:sp>
        <p:nvSpPr>
          <p:cNvPr id="17451" name="">
            <a:extLst xmlns:a="http://schemas.openxmlformats.org/drawingml/2006/main">
              <a:ext uri="{FF2B5EF4-FFF2-40B4-BE49-F238E27FC236}">
                <a16:creationId xmlns:a16="http://schemas.microsoft.com/office/drawing/2014/main" id="{BF5D5442-1EF5-490B-821E-8047C89E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67125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52" name="">
            <a:extLst xmlns:a="http://schemas.openxmlformats.org/drawingml/2006/main">
              <a:ext uri="{FF2B5EF4-FFF2-40B4-BE49-F238E27FC236}">
                <a16:creationId xmlns:a16="http://schemas.microsoft.com/office/drawing/2014/main" id="{A419D0A3-CEDC-455B-84EB-1C7359F9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95675"/>
            <a:ext cx="200025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53" name="">
            <a:extLst xmlns:a="http://schemas.openxmlformats.org/drawingml/2006/main">
              <a:ext uri="{FF2B5EF4-FFF2-40B4-BE49-F238E27FC236}">
                <a16:creationId xmlns:a16="http://schemas.microsoft.com/office/drawing/2014/main" id="{58B5ED80-CF26-465E-9698-F190D26F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62350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7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74F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17454" name="">
            <a:extLst xmlns:a="http://schemas.openxmlformats.org/drawingml/2006/main">
              <a:ext uri="{FF2B5EF4-FFF2-40B4-BE49-F238E27FC236}">
                <a16:creationId xmlns:a16="http://schemas.microsoft.com/office/drawing/2014/main" id="{C9F69CAD-2E11-4336-800E-6269C2AD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9525"/>
            <a:ext cx="1885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whole candidate</a:t>
            </a:r>
          </a:p>
        </p:txBody>
      </p:sp>
      <p:sp>
        <p:nvSpPr>
          <p:cNvPr id="17455" name="">
            <a:extLst xmlns:a="http://schemas.openxmlformats.org/drawingml/2006/main">
              <a:ext uri="{FF2B5EF4-FFF2-40B4-BE49-F238E27FC236}">
                <a16:creationId xmlns:a16="http://schemas.microsoft.com/office/drawing/2014/main" id="{32AF0FE1-5071-417E-A0DB-B61B19E2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67125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56" name="">
            <a:extLst xmlns:a="http://schemas.openxmlformats.org/drawingml/2006/main">
              <a:ext uri="{FF2B5EF4-FFF2-40B4-BE49-F238E27FC236}">
                <a16:creationId xmlns:a16="http://schemas.microsoft.com/office/drawing/2014/main" id="{7F6B5844-6393-438E-A692-39FEA130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95675"/>
            <a:ext cx="200025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57" name="">
            <a:extLst xmlns:a="http://schemas.openxmlformats.org/drawingml/2006/main">
              <a:ext uri="{FF2B5EF4-FFF2-40B4-BE49-F238E27FC236}">
                <a16:creationId xmlns:a16="http://schemas.microsoft.com/office/drawing/2014/main" id="{02A338D0-2DB6-47A3-A15D-8F9180ED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62350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Escalation</a:t>
            </a:r>
          </a:p>
        </p:txBody>
      </p:sp>
      <p:sp>
        <p:nvSpPr>
          <p:cNvPr id="17458" name="">
            <a:extLst xmlns:a="http://schemas.openxmlformats.org/drawingml/2006/main">
              <a:ext uri="{FF2B5EF4-FFF2-40B4-BE49-F238E27FC236}">
                <a16:creationId xmlns:a16="http://schemas.microsoft.com/office/drawing/2014/main" id="{7B6CD4ED-9400-4FF6-B81D-87324C68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9525"/>
            <a:ext cx="1885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725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LOCAL → EXPANDED → FULL</a:t>
            </a:r>
          </a:p>
        </p:txBody>
      </p:sp>
      <p:sp>
        <p:nvSpPr>
          <p:cNvPr id="17459" name="">
            <a:extLst xmlns:a="http://schemas.openxmlformats.org/drawingml/2006/main">
              <a:ext uri="{FF2B5EF4-FFF2-40B4-BE49-F238E27FC236}">
                <a16:creationId xmlns:a16="http://schemas.microsoft.com/office/drawing/2014/main" id="{79A2EA6B-0A67-41BF-85AD-305D27E4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6DA8"/>
            </a:solidFill>
            <a:prstDash val="solid"/>
          </a:ln>
        </p:spPr>
      </p:sp>
      <p:sp>
        <p:nvSpPr>
          <p:cNvPr id="17460" name="">
            <a:extLst xmlns:a="http://schemas.openxmlformats.org/drawingml/2006/main">
              <a:ext uri="{FF2B5EF4-FFF2-40B4-BE49-F238E27FC236}">
                <a16:creationId xmlns:a16="http://schemas.microsoft.com/office/drawing/2014/main" id="{CB137E51-700C-4823-907C-10780219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619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6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6511"/>
                </a:solidFill>
                <a:latin typeface="Arial"/>
                <a:ea typeface="Arial"/>
                <a:cs typeface="Arial"/>
              </a:rPr>
              <a:t>SYNTHETIC GOLDEN RECOVERY CASE 2</a:t>
            </a:r>
          </a:p>
        </p:txBody>
      </p:sp>
      <p:sp>
        <p:nvSpPr>
          <p:cNvPr id="17461" name="">
            <a:extLst xmlns:a="http://schemas.openxmlformats.org/drawingml/2006/main">
              <a:ext uri="{FF2B5EF4-FFF2-40B4-BE49-F238E27FC236}">
                <a16:creationId xmlns:a16="http://schemas.microsoft.com/office/drawing/2014/main" id="{08CE5DF9-E8CD-41DB-AF66-A3314CC5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P_A — M_SHARED — P_B — PROTECTION_R — P_C</a:t>
            </a:r>
          </a:p>
        </p:txBody>
      </p:sp>
      <p:sp>
        <p:nvSpPr>
          <p:cNvPr id="17462" name="">
            <a:extLst xmlns:a="http://schemas.openxmlformats.org/drawingml/2006/main">
              <a:ext uri="{FF2B5EF4-FFF2-40B4-BE49-F238E27FC236}">
                <a16:creationId xmlns:a16="http://schemas.microsoft.com/office/drawing/2014/main" id="{E6BED8A1-8787-483E-8739-98256960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2714625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FBEAEC"/>
            </a:solidFill>
            <a:prstDash val="solid"/>
          </a:ln>
        </p:spPr>
      </p:sp>
      <p:sp>
        <p:nvSpPr>
          <p:cNvPr id="17463" name="">
            <a:extLst xmlns:a="http://schemas.openxmlformats.org/drawingml/2006/main">
              <a:ext uri="{FF2B5EF4-FFF2-40B4-BE49-F238E27FC236}">
                <a16:creationId xmlns:a16="http://schemas.microsoft.com/office/drawing/2014/main" id="{DC0115DE-8842-4456-86C9-F44FC317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734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3435"/>
                </a:solidFill>
                <a:latin typeface="Arial"/>
                <a:ea typeface="Arial"/>
                <a:cs typeface="Arial"/>
              </a:rPr>
              <a:t>LOCAL A+B  ·  INFEASIBLE</a:t>
            </a:r>
          </a:p>
        </p:txBody>
      </p:sp>
      <p:sp>
        <p:nvSpPr>
          <p:cNvPr id="17464" name="">
            <a:extLst xmlns:a="http://schemas.openxmlformats.org/drawingml/2006/main">
              <a:ext uri="{FF2B5EF4-FFF2-40B4-BE49-F238E27FC236}">
                <a16:creationId xmlns:a16="http://schemas.microsoft.com/office/drawing/2014/main" id="{EA0B66CC-292B-4180-B219-D547669F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673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65" name="">
            <a:extLst xmlns:a="http://schemas.openxmlformats.org/drawingml/2006/main">
              <a:ext uri="{FF2B5EF4-FFF2-40B4-BE49-F238E27FC236}">
                <a16:creationId xmlns:a16="http://schemas.microsoft.com/office/drawing/2014/main" id="{0FDCAE14-89FE-4BEE-ABA1-52C052A8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34000"/>
            <a:ext cx="3667125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9525">
            <a:solidFill>
              <a:srgbClr val="E9F5EC"/>
            </a:solidFill>
            <a:prstDash val="solid"/>
          </a:ln>
        </p:spPr>
      </p:sp>
      <p:sp>
        <p:nvSpPr>
          <p:cNvPr id="17466" name="">
            <a:extLst xmlns:a="http://schemas.openxmlformats.org/drawingml/2006/main">
              <a:ext uri="{FF2B5EF4-FFF2-40B4-BE49-F238E27FC236}">
                <a16:creationId xmlns:a16="http://schemas.microsoft.com/office/drawing/2014/main" id="{590DEB6F-500F-4D70-80B0-4CF5EE59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343525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77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774F"/>
                </a:solidFill>
                <a:latin typeface="Arial"/>
                <a:ea typeface="Arial"/>
                <a:cs typeface="Arial"/>
              </a:rPr>
              <a:t>EXPANDED A+B+C  ·  VALIDATED</a:t>
            </a:r>
          </a:p>
        </p:txBody>
      </p:sp>
      <p:sp>
        <p:nvSpPr>
          <p:cNvPr id="17467" name="">
            <a:extLst xmlns:a="http://schemas.openxmlformats.org/drawingml/2006/main">
              <a:ext uri="{FF2B5EF4-FFF2-40B4-BE49-F238E27FC236}">
                <a16:creationId xmlns:a16="http://schemas.microsoft.com/office/drawing/2014/main" id="{1744988D-B2AD-44A8-B55A-79A3AB68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054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877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74F"/>
                </a:solidFill>
                <a:latin typeface="Arial"/>
                <a:ea typeface="Arial"/>
                <a:cs typeface="Arial"/>
              </a:rPr>
              <a:t>5/5 required work retained</a:t>
            </a:r>
          </a:p>
        </p:txBody>
      </p:sp>
      <p:sp>
        <p:nvSpPr>
          <p:cNvPr id="17468" name="">
            <a:extLst xmlns:a="http://schemas.openxmlformats.org/drawingml/2006/main">
              <a:ext uri="{FF2B5EF4-FFF2-40B4-BE49-F238E27FC236}">
                <a16:creationId xmlns:a16="http://schemas.microsoft.com/office/drawing/2014/main" id="{EB6953CB-085A-4A59-9229-5BBB0BEF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48350"/>
            <a:ext cx="1089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Python  ·  OR-Tools CP-SAT  ·  FastAPI/Pydantic  ·  React/Vite  ·  pytest</a:t>
            </a:r>
          </a:p>
        </p:txBody>
      </p:sp>
    </p:spTree>
    <p:extLst>
      <p:ext uri="{BB962C8B-B14F-4D97-AF65-F5344CB8AC3E}">
        <p14:creationId xmlns:p14="http://schemas.microsoft.com/office/powerpoint/2010/main" val="2217241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161D07F-63B5-4047-A5DD-1C4CB502E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6C203579-3B02-4E8D-B93F-0752FA86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2ABD1A-888E-4052-B750-82A4DC79C5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9C7B4DC-0DAE-43E2-BE35-83B9D26BBA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RailSync</a:t>
            </a:r>
            <a:endParaRPr/>
          </a:p>
        </p:txBody>
      </p:sp>
      <p:pic>
        <p:nvPicPr>
          <p:cNvPr id="1743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0e38c3692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8EC06A66-15A5-4847-9592-D6509978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Prototype evidence and the path to an authorized pilot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D20B729E-A653-4A3E-84EF-0512ED44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48275" cy="2647950"/>
          </a:xfrm>
          <a:prstGeom xmlns:a="http://schemas.openxmlformats.org/drawingml/2006/main" prst="roundRect">
            <a:avLst>
              <a:gd name="adj" fmla="val 3237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9525">
            <a:solidFill>
              <a:srgbClr val="ACD3B8"/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ECAA6EF-6FA3-48E4-B4E3-D632F5C8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24050"/>
            <a:ext cx="5495925" cy="2647950"/>
          </a:xfrm>
          <a:prstGeom xmlns:a="http://schemas.openxmlformats.org/drawingml/2006/main" prst="roundRect">
            <a:avLst>
              <a:gd name="adj" fmla="val 323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1CB270C4-020D-4F0F-86A2-26E1471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829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77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774F"/>
                </a:solidFill>
                <a:latin typeface="Arial"/>
                <a:ea typeface="Arial"/>
                <a:cs typeface="Arial"/>
              </a:rPr>
              <a:t>IMPLEMENTED &amp; VERIFIED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C16D1843-A4E2-4CA0-AF08-32F94CCB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4743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408 automated tests pass</a:t>
            </a:r>
          </a:p>
          <a:p xmlns:a="http://schemas.openxmlformats.org/drawingml/2006/main">
            <a:pPr algn="l">
              <a:defRPr sz="180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11 / 11 golden recovery tests pass</a:t>
            </a:r>
          </a:p>
          <a:p xmlns:a="http://schemas.openxmlformats.org/drawingml/2006/main">
            <a:pPr algn="l">
              <a:defRPr sz="180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3 / 3 fixture contracts verified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32F764B-A476-427F-8B2C-DAF6BF07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4743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Independent validation · execution-aware recovery</a:t>
            </a:r>
          </a:p>
          <a:p xmlns:a="http://schemas.openxmlformats.org/drawingml/2006/main">
            <a:pPr algn="l">
              <a:defRPr sz="1275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Stale proposal rejection · same CP-SAT model for FULL and RESTRICTED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069ED9F3-D480-4FDE-BA7E-9C1DFDFD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76450"/>
            <a:ext cx="511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DEPLOYMENT GAPS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7A2660D5-B2B9-40D0-A6C9-3152771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71750"/>
            <a:ext cx="4953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Authorized operational feeds and pilot rules</a:t>
            </a:r>
          </a:p>
          <a:p xmlns:a="http://schemas.openxmlformats.org/drawingml/2006/main">
            <a:pPr algn="l">
              <a:defRPr sz="1575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Production persistence and access control</a:t>
            </a:r>
          </a:p>
          <a:p xmlns:a="http://schemas.openxmlformats.org/drawingml/2006/main">
            <a:pPr algn="l">
              <a:defRPr sz="1575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Railway domain-expert validation</a:t>
            </a:r>
          </a:p>
          <a:p xmlns:a="http://schemas.openxmlformats.org/drawingml/2006/main">
            <a:pPr algn="l">
              <a:defRPr sz="1575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Corridor-scale benchmarking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8222500F-6002-4BB8-9D47-523C51EF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537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E6B8BA"/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C11B014D-69EA-4FF9-B114-C71D9CD9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34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3435"/>
                </a:solidFill>
                <a:latin typeface="Arial"/>
                <a:ea typeface="Arial"/>
                <a:cs typeface="Arial"/>
              </a:rPr>
              <a:t>SYNTHETIC CASE 3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4705FE70-8024-42C0-A3A3-BD6BB42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142"/>
                </a:solidFill>
                <a:latin typeface="Arial"/>
                <a:ea typeface="Arial"/>
                <a:cs typeface="Arial"/>
              </a:rPr>
              <a:t>LOCAL  →  INFEASIBLE     EXPANDED  →  INFEASIBLE     FULL TERRITORY  →  INFEASIBLE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2DE0B74A-0A4E-4E11-9EE6-83F2EB94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10944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34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435"/>
                </a:solidFill>
                <a:latin typeface="Arial"/>
                <a:ea typeface="Arial"/>
                <a:cs typeface="Arial"/>
              </a:rPr>
              <a:t>No adoptable repair; required work is not silently dropped.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D548BDEE-B4B2-4CD7-A19D-268F2021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44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Small synthetic fixtures validate behavior; they do not establish a general runtime advantage.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921780A3-CB79-434C-9429-3F99808F7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53291B23-A560-40D9-9542-34274FA0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3C8B67-C4A6-4C05-BE65-A4E5798036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C9C4FD9-95C2-4156-BACB-98F4A85029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RailSync</a:t>
            </a:r>
            <a:endParaRPr/>
          </a:p>
        </p:txBody>
      </p:sp>
      <p:pic>
        <p:nvPicPr>
          <p:cNvPr id="1744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21f498fb14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60640BF1-DFC0-468B-A3F7-43F07EB0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Operational value that the prototype can actually demonstrate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B7610793-FA57-44C0-95EF-0588CF23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3476625" cy="1914525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3D68B06A-0CC6-4955-BB6A-45A87F23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3171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PLAN BETTER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99DA1DA4-366D-4228-BBCA-24D34629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65A"/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D8773AA2-39C3-4B54-9EA4-6C098735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Explainable priority</a:t>
            </a:r>
          </a:p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ENG / S&amp;T / TRD coordination</a:t>
            </a:r>
          </a:p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Hard train and resource constraints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8790AA92-F961-405E-AEBB-CFAB64AE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90725"/>
            <a:ext cx="3476625" cy="1914525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E6F372E3-7243-417C-B21B-89768572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24075"/>
            <a:ext cx="3171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65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6511"/>
                </a:solidFill>
                <a:latin typeface="Arial"/>
                <a:ea typeface="Arial"/>
                <a:cs typeface="Arial"/>
              </a:rPr>
              <a:t>CHANGE LESS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1EE67EE9-3D96-4353-A2F3-62917A69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24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6511"/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DC538EE8-3CF0-4DDF-ADFE-A8044038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765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Resource-linked scope</a:t>
            </a:r>
          </a:p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Preserve unaffected approved work</a:t>
            </a:r>
          </a:p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Escalate only when necessary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5AFA8E82-056E-4BB9-9C76-E3B2A36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0725"/>
            <a:ext cx="3476625" cy="1914525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3BE4B914-BB11-4F6F-A6F8-D15C0C72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24075"/>
            <a:ext cx="3171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77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774F"/>
                </a:solidFill>
                <a:latin typeface="Arial"/>
                <a:ea typeface="Arial"/>
                <a:cs typeface="Arial"/>
              </a:rPr>
              <a:t>FAIL SAFELY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22613D9E-43AB-454C-97A6-7A216358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24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774F"/>
            </a:solidFill>
            <a:prstDash val="solid"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F053078D-6AFA-4A37-83FF-824D41BF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Independent complete-plan validation</a:t>
            </a:r>
          </a:p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No invalid candidate adoption</a:t>
            </a:r>
          </a:p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Controller remains in control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54BE348E-DCD3-4DF0-9C53-54EF9CC0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THREE DIFFERENT SYNTHETIC RECOVERY OUTCOMES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6D69E3DB-0A7F-43FC-B499-A18A1D2E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347662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471F2794-0B55-48B7-90B3-462536E2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8630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7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74F"/>
                </a:solidFill>
                <a:latin typeface="Arial"/>
                <a:ea typeface="Arial"/>
                <a:cs typeface="Arial"/>
              </a:rPr>
              <a:t>01 · LOCAL SUCCESS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CAB1F735-052C-42FA-ABB2-C994D173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00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P_A/P_B repaired; nearby independent P_U unchanged.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B71A66E2-2CBB-4388-8D00-F42AC96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347662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7A9855CA-F44E-4C18-A06B-99AB3C9E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6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6511"/>
                </a:solidFill>
                <a:latin typeface="Arial"/>
                <a:ea typeface="Arial"/>
                <a:cs typeface="Arial"/>
              </a:rPr>
              <a:t>02 · BOUNDED EXPANSION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D35844AC-B34D-4584-8862-A7F2EE45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00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LOCAL infeasible → EXPANDED validated; 5/5 work retained.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1F87504C-D979-4EB1-9F5A-957F7CE2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3476625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639B88C2-D553-4B1F-9665-98BE4F39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8630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34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3435"/>
                </a:solidFill>
                <a:latin typeface="Arial"/>
                <a:ea typeface="Arial"/>
                <a:cs typeface="Arial"/>
              </a:rPr>
              <a:t>03 · HONEST INFEASIBILITY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B8B8829D-9551-4C01-94E3-AC93DD8B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000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No feasible service-floor repair; no candidate adopted.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8F41ECD5-8554-49E1-B2F0-6F0412D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944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Synthetic golden recovery fixtures  ·  408 automated tests passed across the current prototype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F19BF4C-3E60-4C6E-9D40-1AE386A8A9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4CEE2532-F71F-47DC-B33C-D79898DF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30A5F2-6F54-43A8-9A68-50C93198F4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5EEBD9A1-BB42-402C-A7D7-C982BD030D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RailSync</a:t>
            </a:r>
            <a:endParaRPr/>
          </a:p>
        </p:txBody>
      </p:sp>
      <p:pic>
        <p:nvPicPr>
          <p:cNvPr id="174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643d1886a40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0B97419D-9C7D-427A-AED7-CDD61D6E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Research grounding and inspectable implementation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EEDEA566-0D0C-4AD0-B217-8314F649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53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01E04728-96AE-421C-870C-047C0DF9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1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PROBLEM CONTEXT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4197403C-4DC1-45DA-8BDE-2D25B890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19300"/>
            <a:ext cx="7581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Ministry of Railways / Smart India Hackathon · SIH26027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FE128A0F-BBD3-44EF-A5BC-A5C357C1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53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7170C223-10A6-4224-B22A-020FE271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43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SCOPE RESTRICTION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9464507A-D802-4D34-9EA6-C773B786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43200"/>
            <a:ext cx="7581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Nygren, Eichenberger &amp; Frejinger (2023) · arXiv:2305.03574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DE57EAB2-5F68-442F-AE04-5D1F3894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53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22AD651F-E07A-40DD-9573-50760105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67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MAINTENANCE DISRUPTION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6B749C3F-757F-41A7-AB80-8D5B56D3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67100"/>
            <a:ext cx="7581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Albrecht, Panton &amp; Lee (2013) · DOI: 10.1016/j.cor.2010.09.001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3206060A-61F6-4EEC-8856-FC283DF0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53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4928DF5A-8791-4026-AD49-A82316C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91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WINDOW RESCHEDULING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EC8310A9-AF9F-4AE3-96B8-AC3DB1F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91000"/>
            <a:ext cx="7581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Yang et al. (2026) · DOI: 10.1016/j.trc.2026.105781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C941A5C5-34EB-4601-8FA6-B4CDB20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B2EB9FC5-2E2F-452C-A0CB-1F202796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14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OPTIMIZATION TOOL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FB899CBC-7958-4D69-BB86-F277F273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914900"/>
            <a:ext cx="7581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1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42"/>
                </a:solidFill>
                <a:latin typeface="Arial"/>
                <a:ea typeface="Arial"/>
                <a:cs typeface="Arial"/>
              </a:rPr>
              <a:t>Google OR-Tools · CP-SAT documentation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DE69BC37-673C-4CF0-B92A-DEDCF22C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5D6E4"/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A236E25F-E42A-421F-92D2-F3AABC15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CODE  github.com/prakhar9642/RailSync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C1553B81-5308-4C9B-9D86-686A1A2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721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65A"/>
                </a:solidFill>
                <a:latin typeface="Arial"/>
                <a:ea typeface="Arial"/>
                <a:cs typeface="Arial"/>
              </a:rPr>
              <a:t>PROTOTYPE  rail-sync-eosin.vercel.app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2026-09-20T15:43:00.5640000Z</dcterms:created>
  <dcterms:modified xsi:type="dcterms:W3CDTF">2026-09-20T15:43:00.5640000Z</dcterms:modified>
</coreProperties>
</file>